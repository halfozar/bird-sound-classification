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39950" y="0"/>
            <a:ext cx="5669400" cy="51435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73350" y="457200"/>
            <a:ext cx="5697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BIRD SOUND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7600" y="1737350"/>
            <a:ext cx="5508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CLASSIFICATION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8346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libri"/>
              <a:buNone/>
            </a:pPr>
            <a:r>
              <a:rPr b="1" lang="en-US" sz="18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using MFCC &amp; SVM</a:t>
            </a:r>
            <a:endParaRPr b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520440"/>
            <a:ext cx="4754880" cy="128016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80" y="361188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Team Members:   BEN FLIS ZIYA</a:t>
            </a:r>
            <a:endParaRPr b="1" i="0" sz="1400" u="none" cap="none" strike="noStrike">
              <a:solidFill>
                <a:srgbClr val="AAEE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THANHA NOORUDHEEN TT</a:t>
            </a:r>
            <a:endParaRPr b="1" i="0" sz="1400" u="none" cap="none" strike="noStrike">
              <a:solidFill>
                <a:srgbClr val="AAEE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ALEENA V J 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325" y="254225"/>
            <a:ext cx="3775726" cy="377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&amp; MOTIVATION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600200"/>
            <a:ext cx="2651760" cy="3200400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1600200"/>
            <a:ext cx="2651760" cy="109728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2560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THE NEED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30175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Monitor biodiversity at scale using audio </a:t>
            </a:r>
            <a:r>
              <a:rPr lang="en-US" sz="12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non-invasive, continuous, and deployable anywhere.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18688" y="1600200"/>
            <a:ext cx="2651760" cy="3200400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18688" y="1600200"/>
            <a:ext cx="2651760" cy="109728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18688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🔊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355848" y="2560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55848" y="30175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Distinguish similar-sounding species like Cuckoo vs. Kingfisher from messy background noise.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071616" y="1600200"/>
            <a:ext cx="2651760" cy="3200400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071616" y="1600200"/>
            <a:ext cx="2651760" cy="109728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071616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08776" y="2560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OUR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08776" y="30175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Classical ML (SVM) over Deep Learning </a:t>
            </a:r>
            <a:r>
              <a:rPr lang="en-US" sz="12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resource-efficient, interpretable, runs on any device.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SCIENCE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77724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LIFE CYCLE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20040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20040" y="1508760"/>
            <a:ext cx="804600" cy="1647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0040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29284" y="2450592"/>
            <a:ext cx="36600" cy="128100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161288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161288" y="1508760"/>
            <a:ext cx="804600" cy="1647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161288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61288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970532" y="2450592"/>
            <a:ext cx="36600" cy="128100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002536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002536" y="1508760"/>
            <a:ext cx="804600" cy="1647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002536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909200" y="2377450"/>
            <a:ext cx="995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811780" y="2450592"/>
            <a:ext cx="36600" cy="128100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843784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843784" y="1508760"/>
            <a:ext cx="804600" cy="1647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843784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843784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3028" y="2450592"/>
            <a:ext cx="36600" cy="128100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85032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85032" y="1508760"/>
            <a:ext cx="804600" cy="1647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85032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85032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494276" y="2450592"/>
            <a:ext cx="36600" cy="128100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26280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526280" y="1508760"/>
            <a:ext cx="804600" cy="1647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26280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26280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35524" y="2450592"/>
            <a:ext cx="36600" cy="12810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367528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367528" y="1508760"/>
            <a:ext cx="804600" cy="1647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367528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367528" y="2377440"/>
            <a:ext cx="80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176772" y="2450592"/>
            <a:ext cx="36600" cy="12810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208776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208776" y="1508760"/>
            <a:ext cx="804600" cy="1647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208776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6B6B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120525" y="2377450"/>
            <a:ext cx="995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018020" y="2450592"/>
            <a:ext cx="36600" cy="12810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050024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050024" y="1508760"/>
            <a:ext cx="804600" cy="1647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50024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6B6B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952625" y="2377450"/>
            <a:ext cx="995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859268" y="2450592"/>
            <a:ext cx="36600" cy="12810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891272" y="1508760"/>
            <a:ext cx="804600" cy="20118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7A9CC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891272" y="1508760"/>
            <a:ext cx="804600" cy="164700"/>
          </a:xfrm>
          <a:prstGeom prst="rect">
            <a:avLst/>
          </a:prstGeom>
          <a:solidFill>
            <a:srgbClr val="7A9CC8"/>
          </a:solidFill>
          <a:ln cap="flat" cmpd="sng" w="12700">
            <a:solidFill>
              <a:srgbClr val="7A9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891272" y="1709928"/>
            <a:ext cx="80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7A9CC8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723150" y="2377450"/>
            <a:ext cx="117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65760" y="1828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DATASET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77724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20040" y="1508760"/>
            <a:ext cx="2560320" cy="141732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20040" y="153619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347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20040" y="23591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154680" y="1508760"/>
            <a:ext cx="2560320" cy="141732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154680" y="153619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154680" y="23591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989320" y="1508760"/>
            <a:ext cx="2560320" cy="141732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989320" y="153619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140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989320" y="23591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per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20040" y="309067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CLASS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040" y="35204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Bluejay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103120" y="3557016"/>
            <a:ext cx="1188720" cy="18288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364992" y="35204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0040" y="38130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🐦 Crow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103120" y="3849624"/>
            <a:ext cx="1307592" cy="182880"/>
          </a:xfrm>
          <a:prstGeom prst="rect">
            <a:avLst/>
          </a:prstGeom>
          <a:solidFill>
            <a:srgbClr val="6C8EBF"/>
          </a:solidFill>
          <a:ln cap="flat" cmpd="sng" w="12700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483864" y="381304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E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8EBF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20040" y="410565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🐤 Cuckoo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103120" y="4142232"/>
            <a:ext cx="1069848" cy="182880"/>
          </a:xfrm>
          <a:prstGeom prst="rect">
            <a:avLst/>
          </a:prstGeom>
          <a:solidFill>
            <a:srgbClr val="7A9CC8"/>
          </a:solidFill>
          <a:ln cap="flat" cmpd="sng" w="12700">
            <a:solidFill>
              <a:srgbClr val="7A9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246120" y="410565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Kingfisher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103120" y="4434840"/>
            <a:ext cx="1307592" cy="18288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483864" y="439826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" y="46908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🔇 Noise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103120" y="4727448"/>
            <a:ext cx="1069848" cy="18288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246120" y="4690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1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Source: Xeno-Canto / Kaggle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FEATURE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ENGINEERING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" y="1371600"/>
            <a:ext cx="8503920" cy="621792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229600" y="1371600"/>
            <a:ext cx="594360" cy="621792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8229600" y="1371600"/>
            <a:ext cx="594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80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140817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MFCC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173736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20 coeff × 4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108960" y="1463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Simulates human hearing</a:t>
            </a:r>
            <a:r>
              <a:rPr lang="en-US" sz="12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captures timbre &amp; pitch.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" y="2093976"/>
            <a:ext cx="8503920" cy="621792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8229600" y="2093976"/>
            <a:ext cx="594360" cy="62179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229600" y="2093976"/>
            <a:ext cx="594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02920" y="213055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Spectral Centroid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245973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1 feat × 4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108960" y="2185416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Brightness </a:t>
            </a:r>
            <a:r>
              <a:rPr lang="en-US" sz="12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sharp chirp vs. dull call.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20040" y="2816352"/>
            <a:ext cx="8503920" cy="621792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229600" y="2816352"/>
            <a:ext cx="594360" cy="62179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229600" y="2816352"/>
            <a:ext cx="594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02920" y="28529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Spectral Rolloff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2920" y="318211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1 feat × 4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108960" y="29077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Separates noise from tonal bird calls.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" y="3538728"/>
            <a:ext cx="8503920" cy="621792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229600" y="3538728"/>
            <a:ext cx="594360" cy="62179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8229600" y="3538728"/>
            <a:ext cx="594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02920" y="3575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Zero Crossing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02920" y="390448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1 feat × 4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108960" y="363016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Detects percussive / noisy bursts.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20040" y="4261104"/>
            <a:ext cx="8503920" cy="621792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229600" y="4261104"/>
            <a:ext cx="594360" cy="62179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229600" y="4261104"/>
            <a:ext cx="594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48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02920" y="42976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Chroma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" y="462686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12 bins × 4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108960" y="4352544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Harmonic &amp; melodic pitch content of call.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20040" y="5010912"/>
            <a:ext cx="8503920" cy="18288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MODEL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0040" y="1280160"/>
            <a:ext cx="2651760" cy="3657600"/>
          </a:xfrm>
          <a:prstGeom prst="rect">
            <a:avLst/>
          </a:prstGeom>
          <a:solidFill>
            <a:srgbClr val="0F2040"/>
          </a:solidFill>
          <a:ln cap="flat" cmpd="sng" w="381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320040" y="1280160"/>
            <a:ext cx="2651760" cy="347472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20040" y="12801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★ WINNER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20040" y="16916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SVM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2496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RBF · C=10 · γ=scale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20040" y="292608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81.4%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20040" y="3566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20040" y="38404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F1: 0.80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29768" y="4178808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Best performer, </a:t>
            </a:r>
            <a:r>
              <a:rPr lang="en-US" sz="10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ed for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172968" y="1508760"/>
            <a:ext cx="2651760" cy="3200400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172968" y="16916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RF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310128" y="2496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200 trees · seed=42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172968" y="292608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~78%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72968" y="3566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172968" y="38404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F1: 0.77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82696" y="4178808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Provides feature importance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25896" y="1508760"/>
            <a:ext cx="2651760" cy="3200400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7A9CC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025896" y="16916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7A9CC8"/>
                </a:solidFill>
                <a:latin typeface="Arial Black"/>
                <a:ea typeface="Arial Black"/>
                <a:cs typeface="Arial Black"/>
                <a:sym typeface="Arial Black"/>
              </a:rPr>
              <a:t>KNN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163056" y="2496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k=5 · Euclidean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025896" y="292608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7A9CC8"/>
                </a:solidFill>
                <a:latin typeface="Arial Black"/>
                <a:ea typeface="Arial Black"/>
                <a:cs typeface="Arial Black"/>
                <a:sym typeface="Arial Black"/>
              </a:rPr>
              <a:t>~72%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025896" y="3566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025896" y="38404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F1: 0.70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135624" y="4178808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Simple, fast baseline classifier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MODEL EVALUATION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CONFUSION MATRIX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20040" y="1325880"/>
            <a:ext cx="5029200" cy="352044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20040" y="1325880"/>
            <a:ext cx="50292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[ Paste Confusion Matrix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Heatmap Screenshot Here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577840" y="13258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KEY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577840" y="1783080"/>
            <a:ext cx="3291840" cy="493776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577840" y="1783080"/>
            <a:ext cx="164592" cy="493776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833872" y="1801368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833872" y="2029968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Highest accuracy</a:t>
            </a:r>
            <a:r>
              <a:rPr lang="en-US" sz="10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unique spectral signature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577840" y="2368296"/>
            <a:ext cx="3291840" cy="493776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577840" y="2368296"/>
            <a:ext cx="164592" cy="493776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5833872" y="23865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Crow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833872" y="2615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Strong recall </a:t>
            </a:r>
            <a:r>
              <a:rPr lang="en-US" sz="10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low-frequency raspy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577840" y="2953512"/>
            <a:ext cx="3291840" cy="493776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577840" y="2953512"/>
            <a:ext cx="164592" cy="49377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833872" y="297180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Bluejay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833872" y="320040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Slight confusion with Kingfisher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577840" y="3538728"/>
            <a:ext cx="3291840" cy="493776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577840" y="3538728"/>
            <a:ext cx="164592" cy="49377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833872" y="3557016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Cuckoo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833872" y="3785616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Trickiest </a:t>
            </a:r>
            <a:r>
              <a:rPr lang="en-US" sz="10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varying pitch causes mix-ups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577840" y="4123944"/>
            <a:ext cx="3291840" cy="493776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577840" y="4123944"/>
            <a:ext cx="164592" cy="493776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833872" y="414223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Kingfisher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833872" y="437083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Good recall </a:t>
            </a:r>
            <a:r>
              <a:rPr lang="en-US" sz="1000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 sharp whistle stands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589" y="1434300"/>
            <a:ext cx="3865275" cy="33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FEATURE IMPORTANCE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65760" y="71323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EXPLAINABILITY — RANDOM FOREST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0040" y="1280160"/>
            <a:ext cx="5029200" cy="356616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20040" y="128016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[ Paste Feature Importance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Bar Chart from Cell 17 ]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577840" y="128016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FEATURE INDEX 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577840" y="1737360"/>
            <a:ext cx="3291840" cy="512064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577840" y="1737360"/>
            <a:ext cx="164592" cy="512064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833872" y="175564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0 – 79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833872" y="199339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MFCC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858000" y="1810512"/>
            <a:ext cx="1254034" cy="164592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577840" y="2350008"/>
            <a:ext cx="3291840" cy="512064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5577840" y="2350008"/>
            <a:ext cx="164592" cy="5120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833872" y="236829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80 – 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833872" y="260604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Spectral Centroid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858000" y="2423160"/>
            <a:ext cx="62702" cy="16459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577840" y="2962656"/>
            <a:ext cx="3291840" cy="512064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577840" y="2962656"/>
            <a:ext cx="164592" cy="5120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833872" y="298094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84 – 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833872" y="3218688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Spectral Rolloff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858000" y="3035808"/>
            <a:ext cx="62702" cy="16459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577840" y="3575304"/>
            <a:ext cx="3291840" cy="512064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577840" y="3575304"/>
            <a:ext cx="164592" cy="5120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833872" y="359359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88 – 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833872" y="3831336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Zero Crossing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858000" y="3648456"/>
            <a:ext cx="62702" cy="16459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577840" y="4187952"/>
            <a:ext cx="3291840" cy="512064"/>
          </a:xfrm>
          <a:prstGeom prst="rect">
            <a:avLst/>
          </a:prstGeom>
          <a:solidFill>
            <a:srgbClr val="0F2040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577840" y="4187952"/>
            <a:ext cx="164592" cy="5120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833872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92 – 139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833872" y="44439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Chroma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858000" y="4261104"/>
            <a:ext cx="752421" cy="16459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38" y="1570313"/>
            <a:ext cx="4853012" cy="2690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STREAMLIT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AAEE44"/>
                </a:solidFill>
                <a:latin typeface="Arial Black"/>
                <a:ea typeface="Arial Black"/>
                <a:cs typeface="Arial Black"/>
                <a:sym typeface="Arial Black"/>
              </a:rPr>
              <a:t>DEPLOYMENT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20040" y="1325880"/>
            <a:ext cx="5029200" cy="3200400"/>
          </a:xfrm>
          <a:prstGeom prst="rect">
            <a:avLst/>
          </a:prstGeom>
          <a:solidFill>
            <a:srgbClr val="0F2040"/>
          </a:solidFill>
          <a:ln cap="flat" cmpd="sng" w="254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320040" y="132588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[ Paste Streamlit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C8"/>
                </a:solidFill>
                <a:latin typeface="Calibri"/>
                <a:ea typeface="Calibri"/>
                <a:cs typeface="Calibri"/>
                <a:sym typeface="Calibri"/>
              </a:rPr>
              <a:t>App Screenshot Here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577840" y="1463040"/>
            <a:ext cx="420624" cy="420624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557784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108192" y="1417320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.wav or .mp3 directly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577840" y="2075688"/>
            <a:ext cx="420624" cy="420624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577840" y="20756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🎙️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108192" y="2029968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 audio via microphone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577840" y="2688336"/>
            <a:ext cx="420624" cy="420624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577840" y="26883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108192" y="2642616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SVM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577840" y="3300984"/>
            <a:ext cx="420624" cy="420624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577840" y="330098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108192" y="3255264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MFCC visual + confidence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577840" y="3913632"/>
            <a:ext cx="420624" cy="420624"/>
          </a:xfrm>
          <a:prstGeom prst="ellipse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577840" y="39136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108200" y="3867896"/>
            <a:ext cx="27432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URL: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https://bird-sound-classification-mqczgejumcx4e5u7sxb5jt.streamlit.app/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20040" y="4645152"/>
            <a:ext cx="5029200" cy="347472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20040" y="46451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model/bird_svm_model.pkl   ·   model/scaler.pkl   ·   app.py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07" y="1414287"/>
            <a:ext cx="4136281" cy="30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AAEE44"/>
          </a:solidFill>
          <a:ln cap="flat" cmpd="sng" w="1270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457200" y="16459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00"/>
              <a:buFont typeface="Arial Black"/>
              <a:buNone/>
            </a:pPr>
            <a:r>
              <a:rPr b="1" i="0" lang="en-US" sz="58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040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F2040"/>
                </a:solidFill>
                <a:latin typeface="Arial Black"/>
                <a:ea typeface="Arial Black"/>
                <a:cs typeface="Arial Black"/>
                <a:sym typeface="Arial Black"/>
              </a:rPr>
              <a:t>&amp; FUTURE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65760" y="2331720"/>
            <a:ext cx="8412480" cy="777240"/>
          </a:xfrm>
          <a:prstGeom prst="rect">
            <a:avLst/>
          </a:prstGeom>
          <a:solidFill>
            <a:srgbClr val="0F2040"/>
          </a:solidFill>
          <a:ln cap="flat" cmpd="sng" w="31750">
            <a:solidFill>
              <a:srgbClr val="AAEE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548640" y="2359152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EE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✅  MFCC + SVM achieved 81.4% accuracy</a:t>
            </a:r>
            <a:r>
              <a:rPr b="1" lang="en-US" sz="1300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300" u="none" cap="none" strike="noStrike">
                <a:solidFill>
                  <a:srgbClr val="AAEE44"/>
                </a:solidFill>
                <a:latin typeface="Calibri"/>
                <a:ea typeface="Calibri"/>
                <a:cs typeface="Calibri"/>
                <a:sym typeface="Calibri"/>
              </a:rPr>
              <a:t> proving classical ML is highly effective for bio-acoustic classification with limited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65760" y="3246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⚠️ 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65760" y="36576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Small dataset,  Cuckoo underrepresented.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65760" y="396849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No real-time field recording pipeline yet.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65760" y="427939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Limited background noise diversity.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754880" y="32461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Arial Black"/>
                <a:ea typeface="Arial Black"/>
                <a:cs typeface="Arial Black"/>
                <a:sym typeface="Arial Black"/>
              </a:rPr>
              <a:t>🚀 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754880" y="3657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CNN on mel-spectrograms for higher accuracy.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754880" y="396849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Real-time Raspberry Pi mic pipeline.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754880" y="42793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Federated community bird monitoring.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754880" y="45902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F"/>
                </a:solidFill>
                <a:latin typeface="Calibri"/>
                <a:ea typeface="Calibri"/>
                <a:cs typeface="Calibri"/>
                <a:sym typeface="Calibri"/>
              </a:rPr>
              <a:t>→  Expand to 20+ species from Xeno-Canto.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